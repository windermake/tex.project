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Playfair Display Bold" pitchFamily="2" charset="0"/>
      <p:bold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Open Sans" panose="020B0604020202020204" charset="0"/>
      <p:regular r:id="rId1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E0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320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кругленный прямоугольник 5"/>
          <p:cNvSpPr/>
          <p:nvPr/>
        </p:nvSpPr>
        <p:spPr>
          <a:xfrm>
            <a:off x="4610100" y="4124325"/>
            <a:ext cx="5410200" cy="1552575"/>
          </a:xfrm>
          <a:prstGeom prst="roundRect">
            <a:avLst/>
          </a:prstGeom>
          <a:solidFill>
            <a:srgbClr val="E0E0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 1"/>
          <p:cNvSpPr/>
          <p:nvPr/>
        </p:nvSpPr>
        <p:spPr>
          <a:xfrm>
            <a:off x="1323977" y="813197"/>
            <a:ext cx="11982448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Жизненный цикл разработки ПО (SDLC): От идеи до готового продукта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3536990" y="2939534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Краткий обзор этапов — от сбора требований до поддержки. Понимание SDLC помогает снизить риски, ускорить выпуск и повысить качество продукта</a:t>
            </a:r>
            <a:r>
              <a:rPr lang="en-US" sz="1750" dirty="0" smtClean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ru-RU" sz="1750" dirty="0" smtClean="0">
              <a:solidFill>
                <a:srgbClr val="39393C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ctr">
              <a:lnSpc>
                <a:spcPts val="2850"/>
              </a:lnSpc>
              <a:buNone/>
            </a:pPr>
            <a:endParaRPr lang="ru-RU" sz="1750" dirty="0">
              <a:solidFill>
                <a:srgbClr val="39393C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ctr">
              <a:lnSpc>
                <a:spcPts val="2850"/>
              </a:lnSpc>
              <a:buNone/>
            </a:pPr>
            <a:r>
              <a:rPr lang="ru-RU" sz="1750" b="1" dirty="0" smtClean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Автор: Михаил Огоренко</a:t>
            </a:r>
            <a:endParaRPr lang="ru-RU" sz="1750" b="1" dirty="0">
              <a:solidFill>
                <a:srgbClr val="39393C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ctr">
              <a:lnSpc>
                <a:spcPts val="2850"/>
              </a:lnSpc>
              <a:buNone/>
            </a:pPr>
            <a:r>
              <a:rPr lang="ru-RU" sz="1750" b="1" dirty="0" smtClean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Максим Могутов</a:t>
            </a:r>
            <a:endParaRPr lang="en-US" sz="175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68485"/>
            <a:ext cx="130428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Зачем нужен SDLC? Строим надежный дом, а не карточный домик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756065"/>
            <a:ext cx="1205984" cy="7453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3262" y="3756065"/>
            <a:ext cx="26691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Контроль рисков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283262" y="4246483"/>
            <a:ext cx="2669143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Структура процесса уменьшает неожиданные срывы сроков и перерасход бюджета.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3756065"/>
            <a:ext cx="1205984" cy="74533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25364" y="3756065"/>
            <a:ext cx="266914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Четкие роли и ответственность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725364" y="4600813"/>
            <a:ext cx="266914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Снижается недопонимание между командой, заказчиком и стейкхолдерами.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3756065"/>
            <a:ext cx="1205984" cy="74533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167467" y="3756065"/>
            <a:ext cx="26691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Фокус на целях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1167467" y="4246483"/>
            <a:ext cx="2669143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Требования и критерии качества фиксируются заранее — продукт решает реальные задачи бизнеса.</a:t>
            </a:r>
            <a:endParaRPr lang="en-US" sz="1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4723"/>
            <a:ext cx="1209555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Этап 1 — Анализ требований: Фундамент нашего дома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9638943" y="1823918"/>
            <a:ext cx="420516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Что делаем: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собираем функциональные и нефункциональные требования, оцениваем пользователей и рынок, формируем бизнес-цели.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9638943" y="3842504"/>
            <a:ext cx="420516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Почему важно: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~70% проблем проектов начинаются из-за неверных требований. Правильный анализ уменьшает переделки и экономит ресурс.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8943" y="5861090"/>
            <a:ext cx="420516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Пример: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предпроектные исследования в Surf — проверка гипотез, валидация целевой аудитории и KPI.</a:t>
            </a:r>
            <a:endParaRPr lang="en-US" sz="1750" dirty="0"/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790" y="2050168"/>
            <a:ext cx="7429500" cy="4714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Группа 14"/>
          <p:cNvGrpSpPr/>
          <p:nvPr/>
        </p:nvGrpSpPr>
        <p:grpSpPr>
          <a:xfrm>
            <a:off x="695325" y="972145"/>
            <a:ext cx="13239750" cy="6285191"/>
            <a:chOff x="793789" y="972145"/>
            <a:chExt cx="7556422" cy="6285191"/>
          </a:xfrm>
        </p:grpSpPr>
        <p:sp>
          <p:nvSpPr>
            <p:cNvPr id="4" name="Text 1"/>
            <p:cNvSpPr/>
            <p:nvPr/>
          </p:nvSpPr>
          <p:spPr>
            <a:xfrm>
              <a:off x="793790" y="972145"/>
              <a:ext cx="7556421" cy="11339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4450"/>
                </a:lnSpc>
                <a:buNone/>
              </a:pPr>
              <a:r>
                <a:rPr lang="en-US" sz="3550" b="1" dirty="0">
                  <a:solidFill>
                    <a:srgbClr val="101014"/>
                  </a:solidFill>
                  <a:latin typeface="Playfair Display Bold" pitchFamily="34" charset="0"/>
                  <a:ea typeface="Playfair Display Bold" pitchFamily="34" charset="-122"/>
                  <a:cs typeface="Playfair Display Bold" pitchFamily="34" charset="-120"/>
                </a:rPr>
                <a:t>Этап 2 — Проектирование: Чертежи и архитектура</a:t>
              </a:r>
              <a:endParaRPr lang="en-US" sz="3550" dirty="0"/>
            </a:p>
          </p:txBody>
        </p:sp>
        <p:sp>
          <p:nvSpPr>
            <p:cNvPr id="5" name="Shape 2"/>
            <p:cNvSpPr/>
            <p:nvPr/>
          </p:nvSpPr>
          <p:spPr>
            <a:xfrm>
              <a:off x="793789" y="2446258"/>
              <a:ext cx="7556421" cy="3830122"/>
            </a:xfrm>
            <a:prstGeom prst="roundRect">
              <a:avLst>
                <a:gd name="adj" fmla="val 1437"/>
              </a:avLst>
            </a:prstGeom>
            <a:solidFill>
              <a:srgbClr val="E0E0EC"/>
            </a:solidFill>
            <a:ln/>
          </p:spPr>
        </p:sp>
        <p:sp>
          <p:nvSpPr>
            <p:cNvPr id="6" name="Text 3"/>
            <p:cNvSpPr/>
            <p:nvPr/>
          </p:nvSpPr>
          <p:spPr>
            <a:xfrm>
              <a:off x="1020604" y="2673072"/>
              <a:ext cx="1913930" cy="10629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39393C"/>
                  </a:solidFill>
                  <a:latin typeface="Playfair Display Bold" pitchFamily="34" charset="0"/>
                  <a:ea typeface="Playfair Display Bold" pitchFamily="34" charset="-122"/>
                  <a:cs typeface="Playfair Display Bold" pitchFamily="34" charset="-120"/>
                </a:rPr>
                <a:t>Высокоуровневый дизайн (HLD)</a:t>
              </a:r>
              <a:endParaRPr lang="en-US" sz="220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1020604" y="3872151"/>
              <a:ext cx="1913930" cy="21774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39393C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Описание архитектуры, ключевых модулей, интеграций и ограничений.</a:t>
              </a:r>
              <a:endParaRPr lang="en-US" sz="175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3614976" y="2673072"/>
              <a:ext cx="1913930" cy="10629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39393C"/>
                  </a:solidFill>
                  <a:latin typeface="Playfair Display Bold" pitchFamily="34" charset="0"/>
                  <a:ea typeface="Playfair Display Bold" pitchFamily="34" charset="-122"/>
                  <a:cs typeface="Playfair Display Bold" pitchFamily="34" charset="-120"/>
                </a:rPr>
                <a:t>Низкоуровневый дизайн (LLD)</a:t>
              </a:r>
              <a:endParaRPr lang="en-US" sz="220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3614976" y="3872151"/>
              <a:ext cx="1913930" cy="14516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39393C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Детализация интерфейсов, схем данных, API и алгоритмов.</a:t>
              </a:r>
              <a:endParaRPr lang="en-US" sz="175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6209348" y="2673072"/>
              <a:ext cx="1913930" cy="7086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39393C"/>
                  </a:solidFill>
                  <a:latin typeface="Playfair Display Bold" pitchFamily="34" charset="0"/>
                  <a:ea typeface="Playfair Display Bold" pitchFamily="34" charset="-122"/>
                  <a:cs typeface="Playfair Display Bold" pitchFamily="34" charset="-120"/>
                </a:rPr>
                <a:t>Архитектурные решения</a:t>
              </a:r>
              <a:endParaRPr lang="en-US" sz="2200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6209348" y="3517821"/>
              <a:ext cx="1913930" cy="21774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39393C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Выбор стека, шаблонов проектирования и стратегии масштабирования.</a:t>
              </a:r>
              <a:endParaRPr lang="en-US" sz="175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793790" y="6531531"/>
              <a:ext cx="7556421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39393C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Результат — набор документов и диаграмм, которые направляют реализацию и упрощают коммуникацию между командами.</a:t>
              </a:r>
              <a:endParaRPr lang="en-US" sz="175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4723"/>
            <a:ext cx="1174730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Этап 3 — Разработка: Возводим стены и перекрытия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9638943" y="2186821"/>
            <a:ext cx="42051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Что делаем: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реализация модулей и функций согласно LLD, написание кода, юнит-тесты, подготовка CI/CD.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9638943" y="3479602"/>
            <a:ext cx="420516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Ключевой момент: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модульная разработка + интеграция компонентов для бесшовной проверки и дальнейшего тестирования.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8943" y="5498187"/>
            <a:ext cx="420516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Практика: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поддержка код-ревью, автоматических сборок и статического анализа для раннего обнаружения дефектов.</a:t>
            </a:r>
            <a:endParaRPr lang="en-US" sz="175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944246"/>
            <a:ext cx="7802218" cy="5214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62745" y="589598"/>
            <a:ext cx="7503795" cy="387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Этап 3 — Разработка: Процесс создания продукта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962745" y="1189553"/>
            <a:ext cx="10704909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Разработка — это итеративный процесс, где каждый шаг тщательно спланирован для обеспечения качества и эффективности. Вот ключевые этапы: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2745" y="1726763"/>
            <a:ext cx="775692" cy="93083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844522" y="1881902"/>
            <a:ext cx="2253020" cy="242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Планирование спринта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844522" y="2187893"/>
            <a:ext cx="982313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Определение задач и целей на предстоящий итеративный период.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2745" y="2657594"/>
            <a:ext cx="775692" cy="93083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844522" y="2812733"/>
            <a:ext cx="1939290" cy="242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Написание кода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2844522" y="3118723"/>
            <a:ext cx="982313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Реализация функциональности согласно проектной документации.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2745" y="3588425"/>
            <a:ext cx="775692" cy="93083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844522" y="3743563"/>
            <a:ext cx="1939290" cy="242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Юнит-тесты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2844522" y="4049554"/>
            <a:ext cx="982313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Автоматизированная проверка отдельных компонентов на работоспособность.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2745" y="4519255"/>
            <a:ext cx="775692" cy="93083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844522" y="4674394"/>
            <a:ext cx="1939290" cy="242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Код-ревью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2844522" y="4980384"/>
            <a:ext cx="982313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Взаимная проверка кода разработчиками для улучшения качества и выявления ошибок.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62745" y="5450086"/>
            <a:ext cx="775692" cy="93083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2844522" y="5605224"/>
            <a:ext cx="1939290" cy="242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Интеграция</a:t>
            </a:r>
            <a:endParaRPr lang="en-US" sz="1500" dirty="0"/>
          </a:p>
        </p:txBody>
      </p:sp>
      <p:sp>
        <p:nvSpPr>
          <p:cNvPr id="18" name="Text 11"/>
          <p:cNvSpPr/>
          <p:nvPr/>
        </p:nvSpPr>
        <p:spPr>
          <a:xfrm>
            <a:off x="2844522" y="5911215"/>
            <a:ext cx="982313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Объединение разработанных компонентов в единую систему.</a:t>
            </a:r>
            <a:endParaRPr lang="en-US" sz="12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62745" y="6380917"/>
            <a:ext cx="775692" cy="930831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2844522" y="6536055"/>
            <a:ext cx="1939290" cy="242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CI/CD</a:t>
            </a:r>
            <a:endParaRPr lang="en-US" sz="1500" dirty="0"/>
          </a:p>
        </p:txBody>
      </p:sp>
      <p:sp>
        <p:nvSpPr>
          <p:cNvPr id="21" name="Text 13"/>
          <p:cNvSpPr/>
          <p:nvPr/>
        </p:nvSpPr>
        <p:spPr>
          <a:xfrm>
            <a:off x="2844522" y="6842046"/>
            <a:ext cx="982313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Автоматизация сборки, тестирования и развёртывания продукта.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1962745" y="7431048"/>
            <a:ext cx="10704909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Такой подход обеспечивает непрерывное совершенствование и быструю поставку ценности.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98784" y="749173"/>
            <a:ext cx="14471372" cy="1100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Этап 4 — Тестирование: Проверка на прочность</a:t>
            </a:r>
            <a:endParaRPr lang="en-US" sz="3450" dirty="0"/>
          </a:p>
        </p:txBody>
      </p:sp>
      <p:sp>
        <p:nvSpPr>
          <p:cNvPr id="5" name="Text 2"/>
          <p:cNvSpPr/>
          <p:nvPr/>
        </p:nvSpPr>
        <p:spPr>
          <a:xfrm>
            <a:off x="1495891" y="2176006"/>
            <a:ext cx="220028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1495891" y="2519501"/>
            <a:ext cx="3694867" cy="3048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7" name="Text 4"/>
          <p:cNvSpPr/>
          <p:nvPr/>
        </p:nvSpPr>
        <p:spPr>
          <a:xfrm>
            <a:off x="1495891" y="2690475"/>
            <a:ext cx="3694867" cy="687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Функциональное тестирование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1495891" y="3506291"/>
            <a:ext cx="3694867" cy="69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Проверка соответствия функциональным требованиям.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519037" y="2146551"/>
            <a:ext cx="220028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02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9519037" y="2490046"/>
            <a:ext cx="3694986" cy="3048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11" name="Text 8"/>
          <p:cNvSpPr/>
          <p:nvPr/>
        </p:nvSpPr>
        <p:spPr>
          <a:xfrm>
            <a:off x="9519037" y="2661020"/>
            <a:ext cx="3694986" cy="687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Регрессионное тестирование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9519037" y="3476836"/>
            <a:ext cx="3694986" cy="1040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Гарантия, что изменения не ломают существующий функционал.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632804" y="4919456"/>
            <a:ext cx="220028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03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3632804" y="5262951"/>
            <a:ext cx="7603331" cy="3048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15" name="Text 12"/>
          <p:cNvSpPr/>
          <p:nvPr/>
        </p:nvSpPr>
        <p:spPr>
          <a:xfrm>
            <a:off x="3632804" y="5433925"/>
            <a:ext cx="6216610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Нагрузочное и интеграционное тестирование</a:t>
            </a:r>
            <a:endParaRPr lang="en-US" sz="2150" dirty="0"/>
          </a:p>
        </p:txBody>
      </p:sp>
      <p:sp>
        <p:nvSpPr>
          <p:cNvPr id="16" name="Text 13"/>
          <p:cNvSpPr/>
          <p:nvPr/>
        </p:nvSpPr>
        <p:spPr>
          <a:xfrm>
            <a:off x="3632804" y="5905889"/>
            <a:ext cx="7603331" cy="69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Оценка стабильности под нагрузкой и корректности взаимодействия модулей.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3632804" y="7005074"/>
            <a:ext cx="7603331" cy="69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Цель — убедиться, что продукт надежен, безопасен и готов к приемки заказчиком.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994" y="711041"/>
            <a:ext cx="12830770" cy="512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Этап 5 — Внедрение и Развертывание: Сдача объекта заказчику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9627156" y="2783324"/>
            <a:ext cx="4293751" cy="935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Что делаем:</a:t>
            </a:r>
            <a:r>
              <a:rPr lang="en-US" sz="16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разворачиваем в production, выполняем миграции данных, проводим UAT с ключевыми пользователями.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627156" y="3885605"/>
            <a:ext cx="4293751" cy="1247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Контроль качества:</a:t>
            </a:r>
            <a:r>
              <a:rPr lang="en-US" sz="16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«канареечные» релизы, feature flags и мониторинг позволяют снизить риски при вводе в эксплуатацию.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627156" y="5299829"/>
            <a:ext cx="4293751" cy="935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Итог:</a:t>
            </a:r>
            <a:r>
              <a:rPr lang="en-US" sz="16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продукт доступен конечным пользователям и отслеживается с точки зрения производительности и ошибок.</a:t>
            </a:r>
            <a:endParaRPr lang="en-US" sz="1600" dirty="0"/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754" y="1778997"/>
            <a:ext cx="6990021" cy="5242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0902"/>
            <a:ext cx="130428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Этап 6 — Поддержка и Развитие: Дом, в котором комфортно жить</a:t>
            </a:r>
            <a:endParaRPr lang="en-US" sz="3550" dirty="0"/>
          </a:p>
        </p:txBody>
      </p:sp>
      <p:grpSp>
        <p:nvGrpSpPr>
          <p:cNvPr id="13" name="Группа 12"/>
          <p:cNvGrpSpPr/>
          <p:nvPr/>
        </p:nvGrpSpPr>
        <p:grpSpPr>
          <a:xfrm>
            <a:off x="1538526" y="3088481"/>
            <a:ext cx="11553348" cy="2659262"/>
            <a:chOff x="2283262" y="3088481"/>
            <a:chExt cx="11553348" cy="2659262"/>
          </a:xfrm>
        </p:grpSpPr>
        <p:sp>
          <p:nvSpPr>
            <p:cNvPr id="4" name="Text 1"/>
            <p:cNvSpPr/>
            <p:nvPr/>
          </p:nvSpPr>
          <p:spPr>
            <a:xfrm>
              <a:off x="2283262" y="3088481"/>
              <a:ext cx="2669143" cy="7086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39393C"/>
                  </a:solidFill>
                  <a:latin typeface="Playfair Display Bold" pitchFamily="34" charset="0"/>
                  <a:ea typeface="Playfair Display Bold" pitchFamily="34" charset="-122"/>
                  <a:cs typeface="Playfair Display Bold" pitchFamily="34" charset="-120"/>
                </a:rPr>
                <a:t>Поддержка и исправления</a:t>
              </a:r>
              <a:endParaRPr lang="en-US" sz="2200" dirty="0"/>
            </a:p>
          </p:txBody>
        </p:sp>
        <p:sp>
          <p:nvSpPr>
            <p:cNvPr id="5" name="Text 2"/>
            <p:cNvSpPr/>
            <p:nvPr/>
          </p:nvSpPr>
          <p:spPr>
            <a:xfrm>
              <a:off x="2283262" y="3933230"/>
              <a:ext cx="2669143" cy="10887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39393C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Реагируем на баги, обеспечиваем SLA и стабильность работы.</a:t>
              </a:r>
              <a:endParaRPr lang="en-US" sz="1750" dirty="0"/>
            </a:p>
          </p:txBody>
        </p:sp>
        <p:sp>
          <p:nvSpPr>
            <p:cNvPr id="7" name="Text 3"/>
            <p:cNvSpPr/>
            <p:nvPr/>
          </p:nvSpPr>
          <p:spPr>
            <a:xfrm>
              <a:off x="6725364" y="3088481"/>
              <a:ext cx="2669143" cy="7086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39393C"/>
                  </a:solidFill>
                  <a:latin typeface="Playfair Display Bold" pitchFamily="34" charset="0"/>
                  <a:ea typeface="Playfair Display Bold" pitchFamily="34" charset="-122"/>
                  <a:cs typeface="Playfair Display Bold" pitchFamily="34" charset="-120"/>
                </a:rPr>
                <a:t>Эволюция продукта</a:t>
              </a:r>
              <a:endParaRPr lang="en-US" sz="2200" dirty="0"/>
            </a:p>
          </p:txBody>
        </p:sp>
        <p:sp>
          <p:nvSpPr>
            <p:cNvPr id="8" name="Text 4"/>
            <p:cNvSpPr/>
            <p:nvPr/>
          </p:nvSpPr>
          <p:spPr>
            <a:xfrm>
              <a:off x="6725364" y="3933230"/>
              <a:ext cx="2669143" cy="18145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39393C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Собираем обратную связь, планируем релизы и добавляем новые функции по приоритетам.</a:t>
              </a:r>
              <a:endParaRPr lang="en-US" sz="1750" dirty="0"/>
            </a:p>
          </p:txBody>
        </p:sp>
        <p:sp>
          <p:nvSpPr>
            <p:cNvPr id="10" name="Text 5"/>
            <p:cNvSpPr/>
            <p:nvPr/>
          </p:nvSpPr>
          <p:spPr>
            <a:xfrm>
              <a:off x="11167467" y="3088481"/>
              <a:ext cx="2669143" cy="7086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39393C"/>
                  </a:solidFill>
                  <a:latin typeface="Playfair Display Bold" pitchFamily="34" charset="0"/>
                  <a:ea typeface="Playfair Display Bold" pitchFamily="34" charset="-122"/>
                  <a:cs typeface="Playfair Display Bold" pitchFamily="34" charset="-120"/>
                </a:rPr>
                <a:t>Мониторинг и оптимизация</a:t>
              </a:r>
              <a:endParaRPr lang="en-US" sz="2200" dirty="0"/>
            </a:p>
          </p:txBody>
        </p:sp>
        <p:sp>
          <p:nvSpPr>
            <p:cNvPr id="11" name="Text 6"/>
            <p:cNvSpPr/>
            <p:nvPr/>
          </p:nvSpPr>
          <p:spPr>
            <a:xfrm>
              <a:off x="11167467" y="3933230"/>
              <a:ext cx="2669143" cy="14516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39393C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Непрерывное улучшение производительности, безопасности и UX.</a:t>
              </a:r>
              <a:endParaRPr lang="en-US" sz="1750" dirty="0"/>
            </a:p>
          </p:txBody>
        </p:sp>
      </p:grpSp>
      <p:sp>
        <p:nvSpPr>
          <p:cNvPr id="12" name="Text 7"/>
          <p:cNvSpPr/>
          <p:nvPr/>
        </p:nvSpPr>
        <p:spPr>
          <a:xfrm>
            <a:off x="793790" y="600289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Поддержка — это цикл: новые требования ведут к анализу, проектированию и повторной разработке — SDLC замыкается и живет дальше.</a:t>
            </a:r>
            <a:endParaRPr lang="en-US" sz="1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576</Words>
  <Application>Microsoft Office PowerPoint</Application>
  <PresentationFormat>Произвольный</PresentationFormat>
  <Paragraphs>75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Playfair Display Bold</vt:lpstr>
      <vt:lpstr>Arial</vt:lpstr>
      <vt:lpstr>Calibri</vt:lpstr>
      <vt:lpstr>Open Sans</vt:lpstr>
      <vt:lpstr>Playfair Display Light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9231 kopr</cp:lastModifiedBy>
  <cp:revision>3</cp:revision>
  <dcterms:created xsi:type="dcterms:W3CDTF">2026-04-09T07:18:48Z</dcterms:created>
  <dcterms:modified xsi:type="dcterms:W3CDTF">2026-04-09T07:30:59Z</dcterms:modified>
</cp:coreProperties>
</file>